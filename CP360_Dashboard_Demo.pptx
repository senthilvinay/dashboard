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ADCFC"/>
                </a:solidFill>
              </a:rPr>
              <a:t>MORGAN STANLEY  ·  PNSRT ASG  ·  Core Processing Platform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73152" cy="46405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822960"/>
            <a:ext cx="3474720" cy="3474720"/>
          </a:xfrm>
          <a:prstGeom prst="ellipse">
            <a:avLst/>
          </a:prstGeom>
          <a:solidFill>
            <a:srgbClr val="00E5FF">
              <a:alpha val="7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280160"/>
            <a:ext cx="2560320" cy="2560320"/>
          </a:xfrm>
          <a:prstGeom prst="ellipse">
            <a:avLst/>
          </a:prstGeom>
          <a:solidFill>
            <a:srgbClr val="00E5FF">
              <a:alpha val="12000"/>
            </a:srgbClr>
          </a:solidFill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CP360°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 360° Dashboard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514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EA8"/>
                </a:solidFill>
              </a:rPr>
              <a:t>Real-time JAWS Pipeline  ·  MKS Kubernetes Ops  ·  ServiceNow Intelligence  ·  AI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1051560" cy="347472"/>
          </a:xfrm>
          <a:prstGeom prst="rect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9260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JAWS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54480" y="2926080"/>
            <a:ext cx="1051560" cy="34747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0" y="29260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MKS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926080"/>
            <a:ext cx="1051560" cy="347472"/>
          </a:xfrm>
          <a:prstGeom prst="rect">
            <a:avLst/>
          </a:prstGeom>
          <a:solidFill>
            <a:srgbClr val="00E676">
              <a:alpha val="18000"/>
            </a:srgbClr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29260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SNOW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2926080"/>
            <a:ext cx="1051560" cy="347472"/>
          </a:xfrm>
          <a:prstGeom prst="rect">
            <a:avLst/>
          </a:prstGeom>
          <a:solidFill>
            <a:srgbClr val="FFAB00">
              <a:alpha val="18000"/>
            </a:srgbClr>
          </a:solidFill>
          <a:ln w="12700">
            <a:solidFill>
              <a:srgbClr val="FFAB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0" y="29260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B00"/>
                </a:solidFill>
              </a:rPr>
              <a:t>JIIA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5577AA"/>
                </a:solidFill>
              </a:rPr>
              <a:t>CONFIDENTIAL  ·  INTERNAL USE ONLY  · 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ADCFC"/>
                </a:solidFill>
              </a:rPr>
              <a:t>CP360°  ·  The Problem We Solved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Before CP360° — The Pain Points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EA8"/>
                </a:solidFill>
              </a:rPr>
              <a:t>Teams were firefighting in the dark — no single view of PNSRT pipeline health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88920" cy="137160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788920" cy="54864"/>
          </a:xfrm>
          <a:prstGeom prst="rect">
            <a:avLst/>
          </a:prstGeom>
          <a:solidFill>
            <a:srgbClr val="FF525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18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</a:rPr>
              <a:t>🔍  Zero Visibility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No real-time view of journal processing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status across SEC10, SEC3, SEC6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1508760"/>
            <a:ext cx="2788920" cy="137160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508760"/>
            <a:ext cx="2788920" cy="54864"/>
          </a:xfrm>
          <a:prstGeom prst="rect">
            <a:avLst/>
          </a:prstGeom>
          <a:solidFill>
            <a:srgbClr val="FF525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618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</a:rPr>
              <a:t>⌨️  Manual MKS Ops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Pod restarts required manual SSH into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6 clusters — error-prone, time consuming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63056" y="1508760"/>
            <a:ext cx="2788920" cy="137160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508760"/>
            <a:ext cx="2788920" cy="54864"/>
          </a:xfrm>
          <a:prstGeom prst="rect">
            <a:avLst/>
          </a:prstGeom>
          <a:solidFill>
            <a:srgbClr val="FFA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618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B00"/>
                </a:solidFill>
              </a:rPr>
              <a:t>📊  Scattered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72784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ServiceNow data in 3 different portals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no trend analysis or pattern detection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2788920" cy="137160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2788920" cy="54864"/>
          </a:xfrm>
          <a:prstGeom prst="rect">
            <a:avLst/>
          </a:prstGeom>
          <a:solidFill>
            <a:srgbClr val="FFA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B00"/>
                </a:solidFill>
              </a:rPr>
              <a:t>🔒  No Access Control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3474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Anyone could see any page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no role-based provisioning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18688" y="3063240"/>
            <a:ext cx="2788920" cy="137160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3063240"/>
            <a:ext cx="2788920" cy="54864"/>
          </a:xfrm>
          <a:prstGeom prst="rect">
            <a:avLst/>
          </a:prstGeom>
          <a:solidFill>
            <a:srgbClr val="FF525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</a:rPr>
              <a:t>🔴  Slow Incident Response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28416" y="3474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Avg 45min to identify impacted pods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no automated restart + status capture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3056" y="3063240"/>
            <a:ext cx="2788920" cy="137160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3063240"/>
            <a:ext cx="2788920" cy="54864"/>
          </a:xfrm>
          <a:prstGeom prst="rect">
            <a:avLst/>
          </a:prstGeom>
          <a:solidFill>
            <a:srgbClr val="FFA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B00"/>
                </a:solidFill>
              </a:rPr>
              <a:t>📧  No Status Reporting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2784" y="3474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Post-restart pod status emailed manually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or not at all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77AA"/>
                </a:solidFill>
              </a:rPr>
              <a:t>CP360°  ·  PNSRT Core Processing Dashboard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ADCFC"/>
                </a:solidFill>
              </a:rPr>
              <a:t>CP360°  ·  Solution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CP360° — One Dashboard. Total Visibility.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737360" cy="1097280"/>
          </a:xfrm>
          <a:prstGeom prst="rect">
            <a:avLst/>
          </a:prstGeom>
          <a:solidFill>
            <a:srgbClr val="00E5FF">
              <a:alpha val="20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801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JAWS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560320"/>
            <a:ext cx="1737360" cy="1097280"/>
          </a:xfrm>
          <a:prstGeom prst="rect">
            <a:avLst/>
          </a:prstGeom>
          <a:solidFill>
            <a:srgbClr val="A78BFA">
              <a:alpha val="2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560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Restart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280160"/>
            <a:ext cx="1737360" cy="1097280"/>
          </a:xfrm>
          <a:prstGeom prst="rect">
            <a:avLst/>
          </a:prstGeom>
          <a:solidFill>
            <a:srgbClr val="00E676">
              <a:alpha val="20000"/>
            </a:srgbClr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12801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ServiceNow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Analytics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560320"/>
            <a:ext cx="1737360" cy="1097280"/>
          </a:xfrm>
          <a:prstGeom prst="rect">
            <a:avLst/>
          </a:prstGeom>
          <a:solidFill>
            <a:srgbClr val="FFAB00">
              <a:alpha val="20000"/>
            </a:srgbClr>
          </a:solidFill>
          <a:ln w="19050">
            <a:solidFill>
              <a:srgbClr val="FFAB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2560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B00"/>
                </a:solidFill>
              </a:rPr>
              <a:t>JIIA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AB00"/>
                </a:solidFill>
              </a:rPr>
              <a:t>Impact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280160"/>
            <a:ext cx="1737360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12801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Provisioning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2560320"/>
            <a:ext cx="1737360" cy="1097280"/>
          </a:xfrm>
          <a:prstGeom prst="rect">
            <a:avLst/>
          </a:prstGeom>
          <a:solidFill>
            <a:srgbClr val="F72585">
              <a:alpha val="20000"/>
            </a:srgbClr>
          </a:solidFill>
          <a:ln w="19050">
            <a:solidFill>
              <a:srgbClr val="F7258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3400" y="2560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2585"/>
                </a:solidFill>
              </a:rPr>
              <a:t>Flask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2585"/>
                </a:solidFill>
              </a:rPr>
              <a:t>Backend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188720"/>
            <a:ext cx="1143000" cy="100584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12984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</a:rPr>
              <a:t>7,500+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17556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Lines of Code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680960" y="1188720"/>
            <a:ext cx="1143000" cy="100584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12984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11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0960" y="17556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Feature Modules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400800" y="2377440"/>
            <a:ext cx="1143000" cy="100584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24871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</a:rPr>
              <a:t>12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2944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Analytics Charts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680960" y="2377440"/>
            <a:ext cx="1143000" cy="100584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80960" y="24871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00"/>
                </a:solidFill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80960" y="2944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Kubernetes Clusters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400800" y="3566160"/>
            <a:ext cx="1143000" cy="100584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36758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0" y="4133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RBAC Roles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680960" y="3566160"/>
            <a:ext cx="1143000" cy="100584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80960" y="36758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2585"/>
                </a:solidFill>
              </a:rPr>
              <a:t>∞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680960" y="4133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Demo → Live Mode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5760720" cy="822960"/>
          </a:xfrm>
          <a:prstGeom prst="rect">
            <a:avLst/>
          </a:prstGeom>
          <a:solidFill>
            <a:srgbClr val="141B2D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8EA8"/>
                </a:solidFill>
              </a:rPr>
              <a:t>Tech Stack: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640080" cy="347472"/>
          </a:xfrm>
          <a:prstGeom prst="rect">
            <a:avLst/>
          </a:prstGeom>
          <a:solidFill>
            <a:srgbClr val="001F5B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14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E5FF"/>
                </a:solidFill>
              </a:rPr>
              <a:t>Python Flask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43000" y="4114800"/>
            <a:ext cx="640080" cy="347472"/>
          </a:xfrm>
          <a:prstGeom prst="rect">
            <a:avLst/>
          </a:prstGeom>
          <a:solidFill>
            <a:srgbClr val="001F5B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4114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E5FF"/>
                </a:solidFill>
              </a:rPr>
              <a:t>Paramiko SSH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828800" y="4114800"/>
            <a:ext cx="640080" cy="347472"/>
          </a:xfrm>
          <a:prstGeom prst="rect">
            <a:avLst/>
          </a:prstGeom>
          <a:solidFill>
            <a:srgbClr val="001F5B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4114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E5FF"/>
                </a:solidFill>
              </a:rPr>
              <a:t>html2canvas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514600" y="4114800"/>
            <a:ext cx="640080" cy="347472"/>
          </a:xfrm>
          <a:prstGeom prst="rect">
            <a:avLst/>
          </a:prstGeom>
          <a:solidFill>
            <a:srgbClr val="001F5B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4114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E5FF"/>
                </a:solidFill>
              </a:rPr>
              <a:t>PptxGenJS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200400" y="4114800"/>
            <a:ext cx="640080" cy="347472"/>
          </a:xfrm>
          <a:prstGeom prst="rect">
            <a:avLst/>
          </a:prstGeom>
          <a:solidFill>
            <a:srgbClr val="001F5B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4114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E5FF"/>
                </a:solidFill>
              </a:rPr>
              <a:t>Chart.js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886200" y="4114800"/>
            <a:ext cx="640080" cy="347472"/>
          </a:xfrm>
          <a:prstGeom prst="rect">
            <a:avLst/>
          </a:prstGeom>
          <a:solidFill>
            <a:srgbClr val="001F5B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86200" y="4114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E5FF"/>
                </a:solidFill>
              </a:rPr>
              <a:t>EventSource SSE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572000" y="4114800"/>
            <a:ext cx="640080" cy="347472"/>
          </a:xfrm>
          <a:prstGeom prst="rect">
            <a:avLst/>
          </a:prstGeom>
          <a:solidFill>
            <a:srgbClr val="001F5B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4114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E5FF"/>
                </a:solidFill>
              </a:rPr>
              <a:t>FreeTDS/pyodbc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257800" y="4114800"/>
            <a:ext cx="640080" cy="347472"/>
          </a:xfrm>
          <a:prstGeom prst="rect">
            <a:avLst/>
          </a:prstGeom>
          <a:solidFill>
            <a:srgbClr val="001F5B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57800" y="4114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E5FF"/>
                </a:solidFill>
              </a:rPr>
              <a:t>ServiceNow API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77AA"/>
                </a:solidFill>
              </a:rPr>
              <a:t>CP360°  ·  PNSRT Core Processing Dashboard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E5FF"/>
                </a:solidFill>
              </a:rPr>
              <a:t>CP360°  ·  Module 1 of 11  ·  JAWS Pipeline Dashboard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54864" cy="46405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JAWS Pipeline Dashboard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EA8"/>
                </a:solidFill>
              </a:rPr>
              <a:t>Real-time journal processing visibility across SEC10 · SEC3 · SEC6 · all lifecycle stages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828800" cy="777240"/>
          </a:xfrm>
          <a:prstGeom prst="rect">
            <a:avLst/>
          </a:prstGeom>
          <a:solidFill>
            <a:srgbClr val="0F1524"/>
          </a:solidFill>
          <a:ln w="12700">
            <a:solidFill>
              <a:srgbClr val="00E5FF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3990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</a:rPr>
              <a:t>4,821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EA8"/>
                </a:solidFill>
              </a:rPr>
              <a:t>Total Journals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40280" y="1371600"/>
            <a:ext cx="1828800" cy="777240"/>
          </a:xfrm>
          <a:prstGeom prst="rect">
            <a:avLst/>
          </a:prstGeom>
          <a:solidFill>
            <a:srgbClr val="0F1524"/>
          </a:solidFill>
          <a:ln w="12700">
            <a:solidFill>
              <a:srgbClr val="00E676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13990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76"/>
                </a:solidFill>
              </a:rPr>
              <a:t>97%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8600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EA8"/>
                </a:solidFill>
              </a:rPr>
              <a:t>Success Rate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0" y="1371600"/>
            <a:ext cx="1828800" cy="777240"/>
          </a:xfrm>
          <a:prstGeom prst="rect">
            <a:avLst/>
          </a:prstGeom>
          <a:solidFill>
            <a:srgbClr val="0F1524"/>
          </a:solidFill>
          <a:ln w="12700">
            <a:solidFill>
              <a:srgbClr val="FFAB00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13990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AB00"/>
                </a:solidFill>
              </a:rPr>
              <a:t>23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5196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EA8"/>
                </a:solidFill>
              </a:rPr>
              <a:t>Pending Approval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72200" y="1371600"/>
            <a:ext cx="1828800" cy="777240"/>
          </a:xfrm>
          <a:prstGeom prst="rect">
            <a:avLst/>
          </a:prstGeom>
          <a:solidFill>
            <a:srgbClr val="0F1524"/>
          </a:solidFill>
          <a:ln w="12700">
            <a:solidFill>
              <a:srgbClr val="FF5252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3990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252"/>
                </a:solidFill>
              </a:rPr>
              <a:t>14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EA8"/>
                </a:solidFill>
              </a:rPr>
              <a:t>Failed Journals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2331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</a:rPr>
              <a:t>✦  KEY FEATURES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26517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📋  Journal Status Table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282549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EA8"/>
                </a:solidFill>
              </a:rPr>
              <a:t>Full lifecycle: APRPOS→APRPND→BVPEND→BTPRCS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29992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🔄  Transaction View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17296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EA8"/>
                </a:solidFill>
              </a:rPr>
              <a:t>SEC-level details with settlement &amp; quantity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33467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⚡  Pipeline Flow Diagram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52044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EA8"/>
                </a:solidFill>
              </a:rPr>
              <a:t>Animated visual of processing stages in real-time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" y="36941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🔍  Global Search &amp; Filter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86791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EA8"/>
                </a:solidFill>
              </a:rPr>
              <a:t>Filter by status, journal code, date range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40416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📤  CSV Export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421538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EA8"/>
                </a:solidFill>
              </a:rPr>
              <a:t>One-click export of any table with current filters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43891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🎯  Sample → Live toggle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456285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EA8"/>
                </a:solidFill>
              </a:rPr>
              <a:t>Works offline; switches to live DB seamlessly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46320" y="2194560"/>
            <a:ext cx="3977640" cy="242316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83480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8EA8"/>
                </a:solidFill>
              </a:rPr>
              <a:t>Journal Status Distribution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2651760"/>
            <a:ext cx="3108960" cy="201168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2651760"/>
            <a:ext cx="2083003" cy="201168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26609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APRPOS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20840" y="26609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E5FF"/>
                </a:solidFill>
              </a:rPr>
              <a:t>3,241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589520" y="26609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67%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983480" y="3026664"/>
            <a:ext cx="3108960" cy="201168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83480" y="3026664"/>
            <a:ext cx="124358" cy="201168"/>
          </a:xfrm>
          <a:prstGeom prst="rect">
            <a:avLst/>
          </a:prstGeom>
          <a:solidFill>
            <a:srgbClr val="FFAB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01768" y="30358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PENDING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720840" y="30358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AB00"/>
                </a:solidFill>
              </a:rPr>
              <a:t>18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589520" y="30358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4%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983480" y="3401568"/>
            <a:ext cx="3108960" cy="201168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3401568"/>
            <a:ext cx="310896" cy="201168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01768" y="34107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BVPEND/PRCS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720840" y="34107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8BFA"/>
                </a:solidFill>
              </a:rPr>
              <a:t>480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589520" y="341071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10%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983480" y="3776472"/>
            <a:ext cx="3108960" cy="201168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83480" y="3776472"/>
            <a:ext cx="93269" cy="201168"/>
          </a:xfrm>
          <a:prstGeom prst="rect">
            <a:avLst/>
          </a:prstGeom>
          <a:solidFill>
            <a:srgbClr val="FF5252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01768" y="37856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FAILED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720840" y="37856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5252"/>
                </a:solidFill>
              </a:rPr>
              <a:t>14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589520" y="37856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3%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983480" y="4151376"/>
            <a:ext cx="3108960" cy="201168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83480" y="4151376"/>
            <a:ext cx="497434" cy="201168"/>
          </a:xfrm>
          <a:prstGeom prst="rect">
            <a:avLst/>
          </a:prstGeom>
          <a:solidFill>
            <a:srgbClr val="7B8EA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01768" y="4160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OTHER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720840" y="41605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768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589520" y="41605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16%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77AA"/>
                </a:solidFill>
              </a:rPr>
              <a:t>CP360°  ·  PNSRT Core Processing Dashboard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78BFA"/>
                </a:solidFill>
              </a:rPr>
              <a:t>CP360°  ·  Module 2 of 11  ·  MKS Kubernetes Utilities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54864" cy="4640580"/>
          </a:xfrm>
          <a:prstGeom prst="rect">
            <a:avLst/>
          </a:prstGeom>
          <a:solidFill>
            <a:srgbClr val="A78B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MKS Access &amp; Pod Restart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EA8"/>
                </a:solidFill>
              </a:rPr>
              <a:t>SSH → Kerberos → Unimatrix → kubectl  ·  Fully automated across 6 production clusters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5-STEP RESTART WORKFLOW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1572768" cy="1417320"/>
          </a:xfrm>
          <a:prstGeom prst="rect">
            <a:avLst/>
          </a:prstGeom>
          <a:solidFill>
            <a:srgbClr val="0F1524"/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783080"/>
            <a:ext cx="438912" cy="438912"/>
          </a:xfrm>
          <a:prstGeom prst="ellipse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🔑  Grant Access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SSH → unimatrix login all clusters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47088" y="2395728"/>
            <a:ext cx="128016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75104" y="1691640"/>
            <a:ext cx="1572768" cy="1417320"/>
          </a:xfrm>
          <a:prstGeom prst="rect">
            <a:avLst/>
          </a:prstGeom>
          <a:solidFill>
            <a:srgbClr val="0F1524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783080"/>
            <a:ext cx="438912" cy="438912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29968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🖥️  Select Servers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29968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Choose from 6 production clusters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547872" y="2395728"/>
            <a:ext cx="128016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5888" y="1691640"/>
            <a:ext cx="1572768" cy="1417320"/>
          </a:xfrm>
          <a:prstGeom prst="rect">
            <a:avLst/>
          </a:prstGeom>
          <a:solidFill>
            <a:srgbClr val="0F1524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42816" y="1783080"/>
            <a:ext cx="438912" cy="438912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2816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30752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🔍  Discover PODs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30752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kubectl get pods — real pod names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48656" y="2395728"/>
            <a:ext cx="128016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76672" y="1691640"/>
            <a:ext cx="1572768" cy="1417320"/>
          </a:xfrm>
          <a:prstGeom prst="rect">
            <a:avLst/>
          </a:prstGeom>
          <a:solidFill>
            <a:srgbClr val="0F1524"/>
          </a:solidFill>
          <a:ln w="12700">
            <a:solidFill>
              <a:srgbClr val="00E676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1783080"/>
            <a:ext cx="438912" cy="438912"/>
          </a:xfrm>
          <a:prstGeom prst="ellipse">
            <a:avLst/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31536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♻️  Execute Restart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31536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rollout restart or delete pod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949440" y="2395728"/>
            <a:ext cx="128016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77456" y="1691640"/>
            <a:ext cx="1572768" cy="1417320"/>
          </a:xfrm>
          <a:prstGeom prst="rect">
            <a:avLst/>
          </a:prstGeom>
          <a:solidFill>
            <a:srgbClr val="0F1524"/>
          </a:solidFill>
          <a:ln w="12700">
            <a:solidFill>
              <a:srgbClr val="FFAB00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44384" y="1783080"/>
            <a:ext cx="438912" cy="438912"/>
          </a:xfrm>
          <a:prstGeom prst="ellipse">
            <a:avLst/>
          </a:prstGeom>
          <a:solidFill>
            <a:srgbClr val="FFAB00">
              <a:alpha val="30000"/>
            </a:srgb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4384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B00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3232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📊  Status Report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32320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GREEN/RED flag + email CSV sent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3246120"/>
            <a:ext cx="4114800" cy="1417320"/>
          </a:xfrm>
          <a:prstGeom prst="rect">
            <a:avLst/>
          </a:prstGeom>
          <a:solidFill>
            <a:srgbClr val="141B2D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37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✦  TECHNICAL HIGHLIGHTS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3584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Live SSH log terminal streamed via SSE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37856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Absolute kubectl path — no module load needed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39867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Deployment selector from real kubectl output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7200" y="4187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Pod selector uses spec.selector.matchLabels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" y="4389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Mode: Restart ALL · Selected Pods · Status Check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246120"/>
            <a:ext cx="4160520" cy="1417320"/>
          </a:xfrm>
          <a:prstGeom prst="rect">
            <a:avLst/>
          </a:prstGeom>
          <a:solidFill>
            <a:srgbClr val="141B2D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337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676"/>
                </a:solidFill>
              </a:rPr>
              <a:t>✦  SAFETY &amp; QUALITY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46320" y="35844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RBAC gated — SRE + Admin roles only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46320" y="37856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Auth failure detection — wrong creds = FAIL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46320" y="39867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Role activation tracked (unimatrixv2)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46320" y="41879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Phase 2: pod status captured + CSV attached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46320" y="4389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HTML email report sent after every restart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77AA"/>
                </a:solidFill>
              </a:rPr>
              <a:t>CP360°  ·  PNSRT Core Processing Dashboard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E676"/>
                </a:solidFill>
              </a:rPr>
              <a:t>CP360°  ·  Module 3 of 11  ·  ServiceNow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54864" cy="46405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ServiceNow Analytics — 12 Charts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EA8"/>
                </a:solidFill>
              </a:rPr>
              <a:t>Incident trends  ·  SLA breach tracking  ·  Assignee workload  ·  AI root-cause analysis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987552" cy="685800"/>
          </a:xfrm>
          <a:prstGeom prst="rect">
            <a:avLst/>
          </a:prstGeom>
          <a:solidFill>
            <a:srgbClr val="0F1524"/>
          </a:solidFill>
          <a:ln w="9525">
            <a:solidFill>
              <a:srgbClr val="00E5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41732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</a:rPr>
              <a:t>847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B8EA8"/>
                </a:solidFill>
              </a:rPr>
              <a:t>Total Incidents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353312" y="1389888"/>
            <a:ext cx="987552" cy="685800"/>
          </a:xfrm>
          <a:prstGeom prst="rect">
            <a:avLst/>
          </a:prstGeom>
          <a:solidFill>
            <a:srgbClr val="0F1524"/>
          </a:solidFill>
          <a:ln w="9525">
            <a:solidFill>
              <a:srgbClr val="FF5252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53312" y="141732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252"/>
                </a:solidFill>
              </a:rPr>
              <a:t>23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3312" y="1737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B8EA8"/>
                </a:solidFill>
              </a:rPr>
              <a:t>Open / Active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432304" y="1389888"/>
            <a:ext cx="987552" cy="685800"/>
          </a:xfrm>
          <a:prstGeom prst="rect">
            <a:avLst/>
          </a:prstGeom>
          <a:solidFill>
            <a:srgbClr val="0F1524"/>
          </a:solidFill>
          <a:ln w="9525">
            <a:solidFill>
              <a:srgbClr val="FF1744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32304" y="141732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1744"/>
                </a:solidFill>
              </a:rPr>
              <a:t>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32304" y="1737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B8EA8"/>
                </a:solidFill>
              </a:rPr>
              <a:t>S1/S2 Critical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511296" y="1389888"/>
            <a:ext cx="987552" cy="685800"/>
          </a:xfrm>
          <a:prstGeom prst="rect">
            <a:avLst/>
          </a:prstGeom>
          <a:solidFill>
            <a:srgbClr val="0F1524"/>
          </a:solidFill>
          <a:ln w="9525">
            <a:solidFill>
              <a:srgbClr val="FFAB00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11296" y="141732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B00"/>
                </a:solidFill>
              </a:rPr>
              <a:t>142m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11296" y="1737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B8EA8"/>
                </a:solidFill>
              </a:rPr>
              <a:t>Avg MTTR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590288" y="1389888"/>
            <a:ext cx="987552" cy="685800"/>
          </a:xfrm>
          <a:prstGeom prst="rect">
            <a:avLst/>
          </a:prstGeom>
          <a:solidFill>
            <a:srgbClr val="0F1524"/>
          </a:solidFill>
          <a:ln w="9525">
            <a:solidFill>
              <a:srgbClr val="FF5252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90288" y="141732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252"/>
                </a:solidFill>
              </a:rPr>
              <a:t>12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90288" y="1737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B8EA8"/>
                </a:solidFill>
              </a:rPr>
              <a:t>Reopened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669280" y="1389888"/>
            <a:ext cx="987552" cy="685800"/>
          </a:xfrm>
          <a:prstGeom prst="rect">
            <a:avLst/>
          </a:prstGeom>
          <a:solidFill>
            <a:srgbClr val="0F1524"/>
          </a:solidFill>
          <a:ln w="9525">
            <a:solidFill>
              <a:srgbClr val="FF1744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141732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1744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69280" y="1737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B8EA8"/>
                </a:solidFill>
              </a:rPr>
              <a:t>SLA Breached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748272" y="1389888"/>
            <a:ext cx="987552" cy="685800"/>
          </a:xfrm>
          <a:prstGeom prst="rect">
            <a:avLst/>
          </a:prstGeom>
          <a:solidFill>
            <a:srgbClr val="0F1524"/>
          </a:solidFill>
          <a:ln w="9525">
            <a:solidFill>
              <a:srgbClr val="00E676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48272" y="141732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676"/>
                </a:solidFill>
              </a:rPr>
              <a:t>78%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48272" y="1737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B8EA8"/>
                </a:solidFill>
              </a:rPr>
              <a:t>FCR Rate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827264" y="1389888"/>
            <a:ext cx="987552" cy="685800"/>
          </a:xfrm>
          <a:prstGeom prst="rect">
            <a:avLst/>
          </a:prstGeom>
          <a:solidFill>
            <a:srgbClr val="0F1524"/>
          </a:solidFill>
          <a:ln w="9525">
            <a:solidFill>
              <a:srgbClr val="A78BF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27264" y="141732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17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827264" y="1737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B8EA8"/>
                </a:solidFill>
              </a:rPr>
              <a:t>Problems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20040" y="2212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676"/>
                </a:solidFill>
              </a:rPr>
              <a:t>✦  ALL 12 ANALYTICS CHARTS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487168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487168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📈 Incident &amp; Problem Trend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50592" y="2487168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50592" y="2487168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🍩 Severity Breakdown Donut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26864" y="2487168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2487168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🔥 Weekly Volume Heatmap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03136" y="2487168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03136" y="2487168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4576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📊 Volume by Application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291840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3291840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64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⏱️ MTTR by Severity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50592" y="3291840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450592" y="3291840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42032" y="3364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📅 Day-of-Week Pattern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26864" y="3291840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26864" y="3291840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18304" y="3364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📉 Cumulative Open vs Resolved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03136" y="3291840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03136" y="3291840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94576" y="3364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🔁 Reopened Rate per Week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4096512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4096512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1696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✅ First-Call Resolution Rate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450592" y="4096512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450592" y="4096512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42032" y="41696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👥 Assignee Workload Bar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26864" y="4096512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26864" y="4096512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18304" y="41696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🚨 SLA Breach Timeline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803136" y="4096512"/>
            <a:ext cx="2084832" cy="713232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803136" y="4096512"/>
            <a:ext cx="208483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94576" y="41696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🫧 Priority × Severity Matrix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823960" y="2212848"/>
            <a:ext cx="274320" cy="2423160"/>
          </a:xfrm>
          <a:prstGeom prst="rect">
            <a:avLst/>
          </a:prstGeom>
          <a:solidFill>
            <a:srgbClr val="A78B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78240" y="2377440"/>
            <a:ext cx="320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AI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ROOT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CAUSE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77AA"/>
                </a:solidFill>
              </a:rPr>
              <a:t>CP360°  ·  PNSRT Core Processing Dashboard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B4D8"/>
                </a:solidFill>
              </a:rPr>
              <a:t>CP360°  ·  Cross-Cutting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RBAC  ·  Screenshots  ·  Teams Integration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88920" cy="338328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88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🛡️  Role-Based Access Control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5 roles: Admin · SRE · Developer · Analyst · Manager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2167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MKS pages hidden from non-SRE users at nav level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6426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Restricted page → Request Access screen with reason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31181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Admin approves via 🛡️ topbar modal in real time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35935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Provisioning updates pnsrt_roles.json — no restart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Pending requests list with Approve / Decline buttons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18688" y="1188720"/>
            <a:ext cx="2788920" cy="338328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188720"/>
            <a:ext cx="278892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</a:rPr>
              <a:t>📸  Screenshot System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28416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Double-click → viewport screenshot (visible area)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28416" y="2167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Triple-click → full-page screenshot (entire height)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28416" y="26426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Shift+D / Shift+F keyboard shortcuts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28416" y="31181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Auto-downloads PNG with timestamp filename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28416" y="35935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Toast with Share to Teams · Copy · Options actions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28416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html2canvas — no server required for capture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63056" y="1188720"/>
            <a:ext cx="2788920" cy="338328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188720"/>
            <a:ext cx="2788920" cy="45720"/>
          </a:xfrm>
          <a:prstGeom prst="rect">
            <a:avLst/>
          </a:prstGeom>
          <a:solidFill>
            <a:srgbClr val="7289D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89DA"/>
                </a:solidFill>
              </a:rPr>
              <a:t>💬  Teams Share Integration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72784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One-click share screenshot to any Teams channel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72784" y="2167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MessageCard with page name, timestamp, user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72784" y="26426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Image hosted on Flask server, embedded in card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72784" y="31181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Ops · SRE · MGMT · Dev channel webhooks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72784" y="35935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Automated restart alerts with pod counts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72784" y="4069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▸  istasgWS Kerberos auth for internal Teams posting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77AA"/>
                </a:solidFill>
              </a:rPr>
              <a:t>CP360°  ·  PNSRT Core Processing Dashboard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72585"/>
                </a:solidFill>
              </a:rPr>
              <a:t>CP360°  ·  Backend Architecture  ·  Flask + Paramiko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Flask Backend — Single Server, All Modules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8778240" cy="292608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161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B8EA8"/>
                </a:solidFill>
              </a:rPr>
              <a:t>Endpoint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990088" y="12161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B8EA8"/>
                </a:solidFill>
              </a:rPr>
              <a:t>Method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520440" y="1216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B8EA8"/>
                </a:solidFill>
              </a:rPr>
              <a:t>Module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53712" y="12161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B8EA8"/>
                </a:solidFill>
              </a:rPr>
              <a:t>Purpose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2880" y="1499616"/>
            <a:ext cx="8778240" cy="265176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536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/api/config/all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90088" y="15361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GET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20440" y="1536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EA8"/>
                </a:solidFill>
              </a:rPr>
              <a:t>Config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53712" y="15361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Branding, nav, themes — boot config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600" y="18105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/api/jaws/widgets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90088" y="1810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GET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20440" y="1810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E5FF"/>
                </a:solidFill>
              </a:rPr>
              <a:t>JAWS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53712" y="18105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KPI widget definitions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82880" y="2048256"/>
            <a:ext cx="8778240" cy="265176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0848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/api/jaws/stat/batch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990088" y="20848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B00"/>
                </a:solidFill>
              </a:rPr>
              <a:t>POST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520440" y="2084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E5FF"/>
                </a:solidFill>
              </a:rPr>
              <a:t>JAWS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53712" y="20848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Batch KPI data for date range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28600" y="2359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/api/dashboard/sections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90088" y="2359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GET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20440" y="23591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E5FF"/>
                </a:solidFill>
              </a:rPr>
              <a:t>Dashboard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553712" y="23591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Journal table section definitions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82880" y="2596896"/>
            <a:ext cx="8778240" cy="265176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633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/api/mks/access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90088" y="2633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B00"/>
                </a:solidFill>
              </a:rPr>
              <a:t>POST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520440" y="2633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</a:rPr>
              <a:t>MKS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553712" y="26334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SSH → unimatrix → role activation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28600" y="2907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/api/mks/pods/discover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990088" y="29077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B00"/>
                </a:solidFill>
              </a:rPr>
              <a:t>POST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520440" y="2907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</a:rPr>
              <a:t>MKS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53712" y="29077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kubectl get deployments + pods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" y="3145536"/>
            <a:ext cx="8778240" cy="265176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31821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/api/mks/restart/execute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990088" y="31821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B00"/>
                </a:solidFill>
              </a:rPr>
              <a:t>POST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520440" y="3182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</a:rPr>
              <a:t>MKS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53712" y="31821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Phase1 restart + Phase2 capture + email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28600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/api/mks/stream/&lt;job_id&gt;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990088" y="34564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GET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520440" y="3456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</a:rPr>
              <a:t>MKS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53712" y="34564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SSE live log stream to dashboard terminal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82880" y="3694176"/>
            <a:ext cx="8778240" cy="265176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730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/api/snow/data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990088" y="37307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GET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520440" y="3730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E676"/>
                </a:solidFill>
              </a:rPr>
              <a:t>ServiceNow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553712" y="37307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Incidents + problems for date range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28600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28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/api/teams/share-snapshot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990088" y="4005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B00"/>
                </a:solidFill>
              </a:rPr>
              <a:t>POST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520440" y="4005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289DA"/>
                </a:solidFill>
              </a:rPr>
              <a:t>Teams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53712" y="4005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Host image + post MessageCard webhook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82880" y="4242816"/>
            <a:ext cx="8778240" cy="265176"/>
          </a:xfrm>
          <a:prstGeom prst="rect">
            <a:avLst/>
          </a:prstGeom>
          <a:solidFill>
            <a:srgbClr val="141B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42793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/api/user/roles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990088" y="4279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GET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20440" y="4279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4D8"/>
                </a:solidFill>
              </a:rPr>
              <a:t>RBAC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553712" y="4279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Current user allowed pages from roles.json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28600" y="45537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/api/access/approve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990088" y="45537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B00"/>
                </a:solidFill>
              </a:rPr>
              <a:t>POST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20440" y="4553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4D8"/>
                </a:solidFill>
              </a:rPr>
              <a:t>RBAC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53712" y="45537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Admin approves access request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77AA"/>
                </a:solidFill>
              </a:rPr>
              <a:t>CP360°  ·  PNSRT Core Processing Dashboard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AB00"/>
                </a:solidFill>
              </a:rPr>
              <a:t>CP360°  ·  Business Impact &amp; Demo 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Impact &amp; What to Highlight in Your Demo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29968" cy="1371600"/>
          </a:xfrm>
          <a:prstGeom prst="rect">
            <a:avLst/>
          </a:prstGeom>
          <a:solidFill>
            <a:srgbClr val="0F1524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5252"/>
                </a:solidFill>
              </a:rPr>
              <a:t>BEFORE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20040" y="140817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EA8"/>
                </a:solidFill>
              </a:rPr>
              <a:t>45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18288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0040" y="1755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00E676"/>
                </a:solidFill>
              </a:rPr>
              <a:t>AFTER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676"/>
                </a:solidFill>
              </a:rPr>
              <a:t>Real-time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22860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Pod Restart Visibility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50592" y="1188720"/>
            <a:ext cx="2029968" cy="1371600"/>
          </a:xfrm>
          <a:prstGeom prst="rect">
            <a:avLst/>
          </a:prstGeom>
          <a:solidFill>
            <a:srgbClr val="0F1524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96312" y="1234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5252"/>
                </a:solidFill>
              </a:rPr>
              <a:t>BEFORE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496312" y="140817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EA8"/>
                </a:solidFill>
              </a:rPr>
              <a:t>Manual SSH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42032" y="1719072"/>
            <a:ext cx="18288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496312" y="1755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00E676"/>
                </a:solidFill>
              </a:rPr>
              <a:t>AFTER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496312" y="192024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1-Click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96312" y="22860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MKS Operations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26864" y="1188720"/>
            <a:ext cx="2029968" cy="1371600"/>
          </a:xfrm>
          <a:prstGeom prst="rect">
            <a:avLst/>
          </a:prstGeom>
          <a:solidFill>
            <a:srgbClr val="0F1524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72584" y="1234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5252"/>
                </a:solidFill>
              </a:rPr>
              <a:t>BEFORE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672584" y="140817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EA8"/>
                </a:solidFill>
              </a:rPr>
              <a:t>3 Portals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18304" y="1719072"/>
            <a:ext cx="18288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672584" y="1755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00E676"/>
                </a:solidFill>
              </a:rPr>
              <a:t>AFTER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672584" y="192024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</a:rPr>
              <a:t>1 Dashboard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72584" y="22860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ServiceNow Monitoring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803136" y="1188720"/>
            <a:ext cx="2029968" cy="1371600"/>
          </a:xfrm>
          <a:prstGeom prst="rect">
            <a:avLst/>
          </a:prstGeom>
          <a:solidFill>
            <a:srgbClr val="0F1524"/>
          </a:solidFill>
          <a:ln w="12700">
            <a:solidFill>
              <a:srgbClr val="FFAB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48856" y="1234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5252"/>
                </a:solidFill>
              </a:rPr>
              <a:t>BEFORE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848856" y="140817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EA8"/>
                </a:solidFill>
              </a:rPr>
              <a:t>Zero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94576" y="1719072"/>
            <a:ext cx="18288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848856" y="1755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00E676"/>
                </a:solidFill>
              </a:rPr>
              <a:t>AFTER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848856" y="192024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B00"/>
                </a:solidFill>
              </a:rPr>
              <a:t>12 Charts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48856" y="228600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EA8"/>
                </a:solidFill>
              </a:rPr>
              <a:t>Analytics Depth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0040" y="27249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AB00"/>
                </a:solidFill>
              </a:rPr>
              <a:t>✦  WHAT TO DEMO — TALKING POINTS FOR YOUR MANAGER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063240"/>
            <a:ext cx="256032" cy="256032"/>
          </a:xfrm>
          <a:prstGeom prst="ellipse">
            <a:avLst/>
          </a:prstGeom>
          <a:solidFill>
            <a:srgbClr val="FFAB00">
              <a:alpha val="20000"/>
            </a:srgb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00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" y="30815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Start with the dashboard closed — open it and show data populating live from SAMPLE data (no Flask needed for first impression)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456432"/>
            <a:ext cx="256032" cy="256032"/>
          </a:xfrm>
          <a:prstGeom prst="ellipse">
            <a:avLst/>
          </a:prstGeom>
          <a:solidFill>
            <a:srgbClr val="FFAB00">
              <a:alpha val="20000"/>
            </a:srgb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00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8368" y="34747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Click the 🛡️ topbar shield → show RBAC admin panel. Mention that MKS pages are hidden from analysts — login as different role to prove it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3849624"/>
            <a:ext cx="256032" cy="256032"/>
          </a:xfrm>
          <a:prstGeom prst="ellipse">
            <a:avLst/>
          </a:prstGeom>
          <a:solidFill>
            <a:srgbClr val="FFAB00">
              <a:alpha val="20000"/>
            </a:srgb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00"/>
                </a:solidFill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8368" y="38679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Navigate to MKS Restart → enter your real credentials → click Grant Access. Show the LIVE SSH terminal streaming actual unimatrix log lines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242816"/>
            <a:ext cx="256032" cy="256032"/>
          </a:xfrm>
          <a:prstGeom prst="ellipse">
            <a:avLst/>
          </a:prstGeom>
          <a:solidFill>
            <a:srgbClr val="FFAB00">
              <a:alpha val="20000"/>
            </a:srgb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242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00"/>
                </a:solidFill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8368" y="426110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Navigate to ServiceNow → switch range 7d→90d → watch all 12 charts update simultaneously. Click AI Analyse for instant root-cause report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" y="4636008"/>
            <a:ext cx="256032" cy="256032"/>
          </a:xfrm>
          <a:prstGeom prst="ellipse">
            <a:avLst/>
          </a:prstGeom>
          <a:solidFill>
            <a:srgbClr val="FFAB00">
              <a:alpha val="20000"/>
            </a:srgb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00"/>
                </a:solidFill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8368" y="46542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Triple-click the dashboard content → full-page screenshot auto-downloads → click Share to Teams → show the message card in Teams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77AA"/>
                </a:solidFill>
              </a:rPr>
              <a:t>CP360°  ·  PNSRT Core Processing Dashboard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ADCFC"/>
                </a:solidFill>
              </a:rPr>
              <a:t>MORGAN STANLEY  ·  PNSRT ASG  ·  CORE PROCESSING 360°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2743200"/>
          </a:xfrm>
          <a:prstGeom prst="ellipse">
            <a:avLst/>
          </a:prstGeom>
          <a:solidFill>
            <a:srgbClr val="00E5FF">
              <a:alpha val="5000"/>
            </a:srgbClr>
          </a:solidFill>
          <a:ln w="635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828800"/>
            <a:ext cx="2286000" cy="2286000"/>
          </a:xfrm>
          <a:prstGeom prst="ellipse">
            <a:avLst/>
          </a:prstGeom>
          <a:solidFill>
            <a:srgbClr val="A78BFA">
              <a:alpha val="5000"/>
            </a:srgbClr>
          </a:solidFill>
          <a:ln w="635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E5FF"/>
                </a:solidFill>
              </a:rPr>
              <a:t>CP360°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Core Processing 360° 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8EA8"/>
                </a:solidFill>
              </a:rPr>
              <a:t>Built for PNSRT ASG  ·  Morgan Stanley  · 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AB00"/>
                </a:solidFill>
              </a:rPr>
              <a:t>✦  NEXT STEPS &amp; ROADMAP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828800" cy="82296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Wire live FreeTDS SQL to JAWS widget KPIs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670048" y="2788920"/>
            <a:ext cx="1828800" cy="82296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70048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15768" y="3200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PNSRT Positions page — live trade positions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08576" y="2788920"/>
            <a:ext cx="1828800" cy="82296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54296" y="3200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Year-End Metrics — full lifecycle analytics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47104" y="2788920"/>
            <a:ext cx="1828800" cy="822960"/>
          </a:xfrm>
          <a:prstGeom prst="rect">
            <a:avLst/>
          </a:prstGeom>
          <a:solidFill>
            <a:srgbClr val="0F1524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47104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92824" y="3200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Win-Deploy Status — deployment health board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EA8"/>
                </a:solidFill>
              </a:rPr>
              <a:t>Demo available at  http://localhost:5008  ·  All source in /jaws_flask_v2/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5577AA"/>
                </a:solidFill>
              </a:rPr>
              <a:t>CONFIDENTIAL  ·  INTERNAL USE ONLY  ·  PNSRT ASG  ·  MORGAN STANLEY  · 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CP360° Core Processing 360° Dashboard</dc:title>
  <dc:subject>PptxGenJS Presentation</dc:subject>
  <dc:creator>PNSRT ASG — Morgan Stanley</dc:creator>
  <cp:lastModifiedBy>PNSRT ASG — Morgan Stanley</cp:lastModifiedBy>
  <cp:revision>1</cp:revision>
  <dcterms:created xsi:type="dcterms:W3CDTF">2026-04-24T06:31:46Z</dcterms:created>
  <dcterms:modified xsi:type="dcterms:W3CDTF">2026-04-24T06:31:46Z</dcterms:modified>
</cp:coreProperties>
</file>